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4252a3affc4663" /><Relationship Type="http://schemas.openxmlformats.org/officeDocument/2006/relationships/extended-properties" Target="/docProps/app.xml" Id="Rd5ce29b677b34d4f" /><Relationship Type="http://schemas.openxmlformats.org/officeDocument/2006/relationships/officeDocument" Target="/ppt/presentation.xml" Id="R41fa6953ae2349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ebec7508e04bb3"/>
  </p:sldMasterIdLst>
  <p:notesMasterIdLst>
    <p:notesMasterId xmlns:r="http://schemas.openxmlformats.org/officeDocument/2006/relationships" r:id="R1a77d2f161974895"/>
  </p:notesMasterIdLst>
  <p:sldIdLst>
    <p:sldId xmlns:r="http://schemas.openxmlformats.org/officeDocument/2006/relationships" id="256" r:id="Rc9286f7f2e57415a"/>
    <p:sldId xmlns:r="http://schemas.openxmlformats.org/officeDocument/2006/relationships" id="257" r:id="Ra27f367220f646fc"/>
    <p:sldId xmlns:r="http://schemas.openxmlformats.org/officeDocument/2006/relationships" id="258" r:id="Rd9de27ea29744676"/>
    <p:sldId xmlns:r="http://schemas.openxmlformats.org/officeDocument/2006/relationships" id="259" r:id="R00215a4b2d20438b"/>
    <p:sldId xmlns:r="http://schemas.openxmlformats.org/officeDocument/2006/relationships" id="260" r:id="R922622c21ddf4495"/>
    <p:sldId xmlns:r="http://schemas.openxmlformats.org/officeDocument/2006/relationships" id="261" r:id="R3a9e04d3a5434f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1af68e7915436e" /><Relationship Type="http://schemas.openxmlformats.org/officeDocument/2006/relationships/slideMaster" Target="/ppt/slideMasters/slideMaster1.xml" Id="R37ebec7508e04bb3" /><Relationship Type="http://schemas.openxmlformats.org/officeDocument/2006/relationships/notesMaster" Target="/ppt/notesMasters/notesMaster1.xml" Id="R1a77d2f161974895" /><Relationship Type="http://schemas.openxmlformats.org/officeDocument/2006/relationships/presProps" Target="/ppt/presProps.xml" Id="Ra79941adf03b4501" /><Relationship Type="http://schemas.openxmlformats.org/officeDocument/2006/relationships/tableStyles" Target="/ppt/tableStyles.xml" Id="R3d92d50964824e33" /><Relationship Type="http://schemas.openxmlformats.org/officeDocument/2006/relationships/slide" Target="/ppt/slides/slide1.xml" Id="Rc9286f7f2e57415a" /><Relationship Type="http://schemas.openxmlformats.org/officeDocument/2006/relationships/slide" Target="/ppt/slides/slide2.xml" Id="Ra27f367220f646fc" /><Relationship Type="http://schemas.openxmlformats.org/officeDocument/2006/relationships/slide" Target="/ppt/slides/slide3.xml" Id="Rd9de27ea29744676" /><Relationship Type="http://schemas.openxmlformats.org/officeDocument/2006/relationships/slide" Target="/ppt/slides/slide4.xml" Id="R00215a4b2d20438b" /><Relationship Type="http://schemas.openxmlformats.org/officeDocument/2006/relationships/slide" Target="/ppt/slides/slide5.xml" Id="R922622c21ddf4495" /><Relationship Type="http://schemas.openxmlformats.org/officeDocument/2006/relationships/slide" Target="/ppt/slides/slide6.xml" Id="R3a9e04d3a5434f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e4dda393e941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8438e775a64192" /><Relationship Type="http://schemas.openxmlformats.org/officeDocument/2006/relationships/notesMaster" Target="/ppt/notesMasters/notesMaster1.xml" Id="R576ea2d6071948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5efc35c3154678" /><Relationship Type="http://schemas.openxmlformats.org/officeDocument/2006/relationships/notesMaster" Target="/ppt/notesMasters/notesMaster1.xml" Id="Re0ba3eae986148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5d3c018eb84c19" /><Relationship Type="http://schemas.openxmlformats.org/officeDocument/2006/relationships/notesMaster" Target="/ppt/notesMasters/notesMaster1.xml" Id="R1242695236764f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538adb2e4c4f74" /><Relationship Type="http://schemas.openxmlformats.org/officeDocument/2006/relationships/notesMaster" Target="/ppt/notesMasters/notesMaster1.xml" Id="R057a93b0a4bd42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e69702625d4602" /><Relationship Type="http://schemas.openxmlformats.org/officeDocument/2006/relationships/notesMaster" Target="/ppt/notesMasters/notesMaster1.xml" Id="R238241587be744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017db9b48d45a9" /><Relationship Type="http://schemas.openxmlformats.org/officeDocument/2006/relationships/notesMaster" Target="/ppt/notesMasters/notesMaster1.xml" Id="R4dc3fd7432d844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analytical question: how do bedtime digital habits relate to sleep and wellbeing?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C:/Users/User/OneDrive/Documents/Deesha Online/DataVerse/Sleep_Doomscrolling_Analysis/data/sleep_doomscrolling_habits.csv</a:t>
            </a:r>
          </a:p>
          <a:p xmlns:a="http://schemas.openxmlformats.org/drawingml/2006/main">
            <a:r>
              <a:t>- C:/Users/User/OneDrive/Documents/Deesha Online/DataVerse/Sleep_Doomscrolling_Analysis/sleep_doomscrolling_analysis.ipynb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denominators: 476 doomscrollers and 524 non-doomscrollers.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C:/Users/User/OneDrive/Documents/Deesha Online/DataVerse/Sleep_Doomscrolling_Analysis/data/sleep_doomscrolling_habits.csv</a:t>
            </a:r>
          </a:p>
          <a:p xmlns:a="http://schemas.openxmlformats.org/drawingml/2006/main">
            <a:r>
              <a:t>- C:/Users/User/OneDrive/Documents/Deesha Online/DataVerse/Sleep_Doomscrolling_Analysis/sleep_doomscrolling_analysis.ipynb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plotted measures use minutes, so the shared axis is directly comparable.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C:/Users/User/OneDrive/Documents/Deesha Online/DataVerse/Sleep_Doomscrolling_Analysis/data/sleep_doomscrolling_habits.csv</a:t>
            </a:r>
          </a:p>
          <a:p xmlns:a="http://schemas.openxmlformats.org/drawingml/2006/main">
            <a:r>
              <a:t>- C:/Users/User/OneDrive/Documents/Deesha Online/DataVerse/Sleep_Doomscrolling_Analysis/sleep_doomscrolling_analysis.ipynb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bar axis starts at zero and uses minutes for all three categories.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C:/Users/User/OneDrive/Documents/Deesha Online/DataVerse/Sleep_Doomscrolling_Analysis/data/sleep_doomscrolling_habits.csv</a:t>
            </a:r>
          </a:p>
          <a:p xmlns:a="http://schemas.openxmlformats.org/drawingml/2006/main">
            <a:r>
              <a:t>- C:/Users/User/OneDrive/Documents/Deesha Online/DataVerse/Sleep_Doomscrolling_Analysis/sleep_doomscrolling_analysis.ipynb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importance is impurity-based predictive contribution, not causal importance.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C:/Users/User/OneDrive/Documents/Deesha Online/DataVerse/Sleep_Doomscrolling_Analysis/data/sleep_doomscrolling_habits.csv</a:t>
            </a:r>
          </a:p>
          <a:p xmlns:a="http://schemas.openxmlformats.org/drawingml/2006/main">
            <a:r>
              <a:t>- C:/Users/User/OneDrive/Documents/Deesha Online/DataVerse/Sleep_Doomscrolling_Analysis/sleep_doomscrolling_analysis.ipynb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distinction between portfolio-grade exploratory evidence and clinical or causal evidence.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C:/Users/User/OneDrive/Documents/Deesha Online/DataVerse/Sleep_Doomscrolling_Analysis/data/sleep_doomscrolling_habits.csv</a:t>
            </a:r>
          </a:p>
          <a:p xmlns:a="http://schemas.openxmlformats.org/drawingml/2006/main">
            <a:r>
              <a:t>- C:/Users/User/OneDrive/Documents/Deesha Online/DataVerse/Sleep_Doomscrolling_Analysis/sleep_doomscrolling_analysis.ipynb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eef8b1e4e47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104594d1d64369" /><Relationship Type="http://schemas.openxmlformats.org/officeDocument/2006/relationships/slideLayout" Target="/ppt/slideLayouts/slideLayout1.xml" Id="R3ea0a60458e74a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a0a60458e74a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a9b6bd2074950" /><Relationship Type="http://schemas.openxmlformats.org/officeDocument/2006/relationships/notesSlide" Target="/ppt/notesSlides/notesSlide1.xml" Id="Rdbf3063b855342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7d99eb6e94dd5" /><Relationship Type="http://schemas.openxmlformats.org/officeDocument/2006/relationships/notesSlide" Target="/ppt/notesSlides/notesSlide2.xml" Id="R9cac1f61806b41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809ccbaf14bae" /><Relationship Type="http://schemas.openxmlformats.org/officeDocument/2006/relationships/chart" Target="/ppt/slides/charts/chart1.xml" Id="Rafdcf9f2d46e44fb" /><Relationship Type="http://schemas.openxmlformats.org/officeDocument/2006/relationships/notesSlide" Target="/ppt/notesSlides/notesSlide3.xml" Id="Ra607bf0a40524e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5d8b4cdb6418f" /><Relationship Type="http://schemas.openxmlformats.org/officeDocument/2006/relationships/chart" Target="/ppt/slides/charts/chart2.xml" Id="Re670801b98254686" /><Relationship Type="http://schemas.openxmlformats.org/officeDocument/2006/relationships/notesSlide" Target="/ppt/notesSlides/notesSlide4.xml" Id="R54701f897ae74e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517848b80474a" /><Relationship Type="http://schemas.openxmlformats.org/officeDocument/2006/relationships/chart" Target="/ppt/slides/charts/chart3.xml" Id="R430886e22cc5436c" /><Relationship Type="http://schemas.openxmlformats.org/officeDocument/2006/relationships/notesSlide" Target="/ppt/notesSlides/notesSlide5.xml" Id="Re48de74820604e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f8d15a0c04363" /><Relationship Type="http://schemas.openxmlformats.org/officeDocument/2006/relationships/notesSlide" Target="/ppt/notesSlides/notesSlide6.xml" Id="R63ec9bd626394e6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Non-doomscroller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2"/>
              <c:pt idx="0">
                <c:v>Bedtime screen</c:v>
              </c:pt>
              <c:pt idx="1">
                <c:v>Sleep latency</c:v>
              </c:pt>
            </c:strLit>
          </c:cat>
          <c:val>
            <c:numLit>
              <c:formatCode>General</c:formatCode>
              <c:ptCount val="2"/>
              <c:pt idx="0">
                <c:v>37.39</c:v>
              </c:pt>
              <c:pt idx="1">
                <c:v>22.85</c:v>
              </c:pt>
            </c:numLit>
          </c:val>
        </c:ser>
        <c:ser>
          <c:idx val="1"/>
          <c:order val="1"/>
          <c:tx>
            <c:v>Doomscroller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Bedtime screen</c:v>
              </c:pt>
              <c:pt idx="1">
                <c:v>Sleep latency</c:v>
              </c:pt>
            </c:strLit>
          </c:cat>
          <c:val>
            <c:numLit>
              <c:formatCode>General</c:formatCode>
              <c:ptCount val="2"/>
              <c:pt idx="0">
                <c:v>64.11</c:v>
              </c:pt>
              <c:pt idx="1">
                <c:v>33.42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Bedtime screen time (min)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Poor</c:v>
              </c:pt>
              <c:pt idx="1">
                <c:v>Fair</c:v>
              </c:pt>
              <c:pt idx="2">
                <c:v>Good</c:v>
              </c:pt>
            </c:strLit>
          </c:cat>
          <c:val>
            <c:numLit>
              <c:formatCode>General</c:formatCode>
              <c:ptCount val="3"/>
              <c:pt idx="0">
                <c:v>69.74</c:v>
              </c:pt>
              <c:pt idx="1">
                <c:v>46.12</c:v>
              </c:pt>
              <c:pt idx="2">
                <c:v>34.94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Feature importance (%)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5"/>
              <c:pt idx="0">
                <c:v>Sleep hours</c:v>
              </c:pt>
              <c:pt idx="1">
                <c:v>Bedtime screen</c:v>
              </c:pt>
              <c:pt idx="2">
                <c:v>Sleep latency</c:v>
              </c:pt>
              <c:pt idx="3">
                <c:v>Night wakeups</c:v>
              </c:pt>
              <c:pt idx="4">
                <c:v>Daily screen</c:v>
              </c:pt>
            </c:strLit>
          </c:cat>
          <c:val>
            <c:numLit>
              <c:formatCode>General</c:formatCode>
              <c:ptCount val="5"/>
              <c:pt idx="0">
                <c:v>11.3</c:v>
              </c:pt>
              <c:pt idx="1">
                <c:v>9.6</c:v>
              </c:pt>
              <c:pt idx="2">
                <c:v>8.3</c:v>
              </c:pt>
              <c:pt idx="3">
                <c:v>6.3</c:v>
              </c:pt>
              <c:pt idx="4">
                <c:v>6.1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3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D6EA6C7-2D92-4951-B6D1-52E0108E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Sleep &amp;
doomscrolling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D5C6863-4F1D-466C-85DD-8949C0BA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dashboard · 1,000 respondents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9A18BC2-4E62-4F38-BB4F-AD3C38AD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DIGITAL WELLBEING ANALYTICS</a:t>
            </a:r>
          </a:p>
        </p:txBody>
      </p:sp>
    </p:spTree>
    <p:extLst>
      <p:ext uri="{BB962C8B-B14F-4D97-AF65-F5344CB8AC3E}">
        <p14:creationId xmlns:p14="http://schemas.microsoft.com/office/powerpoint/2010/main" val="8004626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1E6C2FED-195F-464D-A751-6A7111CA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F293592C-0910-4958-A96A-9C668087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2CF39435-E7DF-4DAD-BF82-B2653332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2EE83C7-7B3E-4FB8-9F62-5CE51D96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C2DEFCBC-785C-4722-8395-DCDB8A68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Doomscrolling is common—and the sleep gap is visible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AAA3CFE-3BF2-46EF-B4C3-0CC1F51B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labelled doomscrollers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D9DEBE5-8A9D-4C2E-9D27-6FF2C889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97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weekly sleep-debt gap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DFE0FA62-0D68-4AB1-8254-A0F7F006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average sleep-latency gap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08FD8886-B461-431B-A73A-F0809CE6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47.6%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644866BA-9BAC-401F-9797-75F67816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+10.6 min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D3AD840-65C5-4462-BF5F-020A1B90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+1.49 h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6B852F3-CE6F-47A8-8B6C-723607A6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Executive dashboard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row represents one respondent. Cohort comparisons use observed means and describe association only; they do not establish that doomscrolling causes poorer sleep.</a:t>
            </a:r>
          </a:p>
        </p:txBody>
      </p:sp>
    </p:spTree>
    <p:extLst>
      <p:ext uri="{BB962C8B-B14F-4D97-AF65-F5344CB8AC3E}">
        <p14:creationId xmlns:p14="http://schemas.microsoft.com/office/powerpoint/2010/main" val="4669014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A5CDC9F-5B76-41C6-A64B-A8A3F6DF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EA04A66-5758-4146-8A11-C5942DBC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Bedtime exposure separates cohorts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A3B0999D-998C-44C6-95D3-12C5F1D0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F6B52EA-A486-4DC6-81C0-779921B6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33.4 vs 22.9 min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average sleep latency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783C158D-FE6D-43A5-B260-AF48E5E2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5D0ECC7-5811-4570-8F38-316D273C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64.1 vs 37.4 min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average bedtime screen time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63175F54-B5C6-42E4-A86B-7A6A9EC8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5C5FA3CA-9C80-4760-BC8C-E4A0FAB7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−0.24 hours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average nightly sleep gap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dcf9f2d46e44fb"/>
          </a:graphicData>
        </a:graphic>
      </p:graphicFrame>
    </p:spTree>
    <p:extLst>
      <p:ext uri="{BB962C8B-B14F-4D97-AF65-F5344CB8AC3E}">
        <p14:creationId xmlns:p14="http://schemas.microsoft.com/office/powerpoint/2010/main" val="17974314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1F8843A-0486-4784-B3E0-4DFAB6E8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44C6F29-A276-40ED-BFAA-2F99FBE6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Poor sleepers report nearly twice the bedtime screen time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22BE810-4964-4178-9FE3-0AFFD768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69.7 min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CDFC7C66-89D8-41B8-9962-508D40B3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poor sleep quality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F77C848-B965-4F30-9E25-954A01AB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34.9 min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7E955A50-764A-4691-BBE0-7079F94A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good sleep quality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550ABD5F-CB9C-49F8-925A-4CEFC5A7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F6CC013F-F2C4-4E13-9D47-5DA1403B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053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Sleep-quality segments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Poor, fair, and good categories are balanced at 330, 330, and 340 respondents. Bedtime screen time falls as reported sleep quality improves.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70801b98254686"/>
          </a:graphicData>
        </a:graphic>
      </p:graphicFrame>
    </p:spTree>
    <p:extLst>
      <p:ext uri="{BB962C8B-B14F-4D97-AF65-F5344CB8AC3E}">
        <p14:creationId xmlns:p14="http://schemas.microsoft.com/office/powerpoint/2010/main" val="8950352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0D29434-1FF5-4DB8-924F-95413E97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D974AF4-C0E0-490A-A0C4-D579325B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model finds signal—but the middle class remains difficult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A23D91D-74EA-42DC-94CD-0A238649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58%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AF059E16-E16E-4E08-B646-10EE1CE7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 accuracy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57235CB-8EC4-4BED-9BC2-F0F65938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34%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6C4C6131-191D-41F5-816D-364539BB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majority baseline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CB5E7FAB-B995-4CF3-9EF4-6CC9D96D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B5CA90D0-CDEF-4879-961D-E3AC44AE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26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Predictive benchmark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random forest predicts sleep-quality category using a 75/25 stratified split. Direct label sources and derived shortcuts were excluded to reduce leakage.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0886e22cc5436c"/>
          </a:graphicData>
        </a:graphic>
      </p:graphicFrame>
    </p:spTree>
    <p:extLst>
      <p:ext uri="{BB962C8B-B14F-4D97-AF65-F5344CB8AC3E}">
        <p14:creationId xmlns:p14="http://schemas.microsoft.com/office/powerpoint/2010/main" val="17538415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1E06359-8565-4193-A414-36CA6960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09A1784-F64C-45AA-AD96-10A68DF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findings to guide better questions—not causal claims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FC5EFCE-35A7-4810-A4F9-3CC52F3E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Practical next steps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3E36397-B7C7-412B-8921-3D5BA675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 bedtime exposure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8E5C7496-92D1-4301-BCDE-8D2DDEB2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B61EC233-4770-41B6-840D-5C0A2100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evidence consistently points to bedtime-specific exposure, sleep latency, and sleep debt as useful measures for a future digital-wellbeing study.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archive lacks collection methodology, survey dates, and sampling documentation. Validate these patterns in a new or longitudinal sample before making interventions.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093ACD3-8FEB-4746-9BD3-A102CFC9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Track sleep latency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DA773C10-AC1A-4D76-AB2F-7B9FB7C8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C98C8720-C621-4037-9893-51A2A11C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Add uncertainty intervals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76B7EA48-26C0-4DE1-9F2C-E8330ECC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07DCD115-332D-406E-AEAF-D658BFC4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 an ordinal model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5E30C10A-9425-4205-8A73-BB514822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76018891-BF89-4B99-8BC9-1DB8017C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 on a new sample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3378AA52-B87C-4CEB-AF93-C2E0690D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134120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2026-08-06T11:04:25.6520000Z</dcterms:created>
  <dcterms:modified xsi:type="dcterms:W3CDTF">2026-08-06T11:04:25.6520000Z</dcterms:modified>
</coreProperties>
</file>
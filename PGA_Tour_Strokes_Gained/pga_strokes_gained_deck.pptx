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 Total / round</c:v>
                </c:pt>
              </c:strCache>
            </c:strRef>
          </c:tx>
          <c:spPr>
            <a:solidFill>
              <a:srgbClr val="E4BE6A"/>
            </a:solidFill>
            <a:effectLst/>
          </c:spPr>
          <c:invertIfNegative val="0"/>
          <c:dLbls>
            <c:numFmt formatCode="&quot;+&quot;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C143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Jon Rahm  (5W)</c:v>
                  </c:pt>
                  <c:pt idx="1">
                    <c:v>Rory McIlroy  (7W)</c:v>
                  </c:pt>
                  <c:pt idx="2">
                    <c:v>Patrick Cantlay  (6W)</c:v>
                  </c:pt>
                  <c:pt idx="3">
                    <c:v>Dustin Johnson  (12W)</c:v>
                  </c:pt>
                  <c:pt idx="4">
                    <c:v>Justin Thomas  (9W)</c:v>
                  </c:pt>
                  <c:pt idx="5">
                    <c:v>Collin Morikawa</c:v>
                  </c:pt>
                  <c:pt idx="6">
                    <c:v>Webb Simpson</c:v>
                  </c:pt>
                  <c:pt idx="7">
                    <c:v>Xander Schauffele</c:v>
                  </c:pt>
                  <c:pt idx="8">
                    <c:v>Hideki Matsuyama</c:v>
                  </c:pt>
                  <c:pt idx="9">
                    <c:v>Paul Casey</c:v>
                  </c:pt>
                  <c:pt idx="10">
                    <c:v>Viktor Hovland</c:v>
                  </c:pt>
                  <c:pt idx="11">
                    <c:v>Jordan Spieth  (7W)</c:v>
                  </c:pt>
                  <c:pt idx="12">
                    <c:v>Jason Day  (7W)</c:v>
                  </c:pt>
                  <c:pt idx="13">
                    <c:v>Scottie Scheffler</c:v>
                  </c:pt>
                  <c:pt idx="14">
                    <c:v>Sungjae Im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1.59</c:v>
                </c:pt>
                <c:pt idx="1">
                  <c:v>1.48</c:v>
                </c:pt>
                <c:pt idx="2">
                  <c:v>1.37</c:v>
                </c:pt>
                <c:pt idx="3">
                  <c:v>1.36</c:v>
                </c:pt>
                <c:pt idx="4">
                  <c:v>1.17</c:v>
                </c:pt>
                <c:pt idx="5">
                  <c:v>0.97</c:v>
                </c:pt>
                <c:pt idx="6">
                  <c:v>0.95</c:v>
                </c:pt>
                <c:pt idx="7">
                  <c:v>0.94</c:v>
                </c:pt>
                <c:pt idx="8">
                  <c:v>0.94</c:v>
                </c:pt>
                <c:pt idx="9">
                  <c:v>0.92</c:v>
                </c:pt>
                <c:pt idx="10">
                  <c:v>0.91</c:v>
                </c:pt>
                <c:pt idx="11">
                  <c:v>0.91</c:v>
                </c:pt>
                <c:pt idx="12">
                  <c:v>0.91</c:v>
                </c:pt>
                <c:pt idx="13">
                  <c:v>0.88</c:v>
                </c:pt>
                <c:pt idx="14">
                  <c:v>0.87</c:v>
                </c:pt>
              </c:numCache>
            </c:numRef>
          </c:val>
        </c:ser>
        <c:dLbls>
          <c:numFmt formatCode="&quot;+&quot;0.00" sourceLinked="0"/>
          <c:txPr>
            <a:bodyPr/>
            <a:lstStyle/>
            <a:p>
              <a:pPr>
                <a:defRPr b="1" i="0" strike="noStrike" sz="1100" u="none">
                  <a:solidFill>
                    <a:srgbClr val="C143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EF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4332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1B4332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 the Tee</c:v>
                </c:pt>
              </c:strCache>
            </c:strRef>
          </c:tx>
          <c:spPr>
            <a:solidFill>
              <a:srgbClr val="5FA3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Jon Rahm</c:v>
                  </c:pt>
                  <c:pt idx="1">
                    <c:v>Rory McIlroy</c:v>
                  </c:pt>
                  <c:pt idx="2">
                    <c:v>Patrick Cantlay</c:v>
                  </c:pt>
                  <c:pt idx="3">
                    <c:v>Dustin Johnson</c:v>
                  </c:pt>
                  <c:pt idx="4">
                    <c:v>Justin Thomas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</c:v>
                </c:pt>
                <c:pt idx="1">
                  <c:v>0.9</c:v>
                </c:pt>
                <c:pt idx="2">
                  <c:v>0.52</c:v>
                </c:pt>
                <c:pt idx="3">
                  <c:v>0.73</c:v>
                </c:pt>
                <c:pt idx="4">
                  <c:v>0.29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Approach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Jon Rahm</c:v>
                  </c:pt>
                  <c:pt idx="1">
                    <c:v>Rory McIlroy</c:v>
                  </c:pt>
                  <c:pt idx="2">
                    <c:v>Patrick Cantlay</c:v>
                  </c:pt>
                  <c:pt idx="3">
                    <c:v>Dustin Johnson</c:v>
                  </c:pt>
                  <c:pt idx="4">
                    <c:v>Justin Thomas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0.37</c:v>
                </c:pt>
                <c:pt idx="1">
                  <c:v>0.43</c:v>
                </c:pt>
                <c:pt idx="2">
                  <c:v>0.47</c:v>
                </c:pt>
                <c:pt idx="3">
                  <c:v>0.42</c:v>
                </c:pt>
                <c:pt idx="4">
                  <c:v>0.65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Around Green</c:v>
                </c:pt>
              </c:strCache>
            </c:strRef>
          </c:tx>
          <c:spPr>
            <a:solidFill>
              <a:srgbClr val="EBE0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Jon Rahm</c:v>
                  </c:pt>
                  <c:pt idx="1">
                    <c:v>Rory McIlroy</c:v>
                  </c:pt>
                  <c:pt idx="2">
                    <c:v>Patrick Cantlay</c:v>
                  </c:pt>
                  <c:pt idx="3">
                    <c:v>Dustin Johnson</c:v>
                  </c:pt>
                  <c:pt idx="4">
                    <c:v>Justin Thomas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0.14</c:v>
                </c:pt>
                <c:pt idx="1">
                  <c:v>0.2</c:v>
                </c:pt>
                <c:pt idx="2">
                  <c:v>0.22</c:v>
                </c:pt>
                <c:pt idx="3">
                  <c:v>0.05</c:v>
                </c:pt>
                <c:pt idx="4">
                  <c:v>0.26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Putting</c:v>
                </c:pt>
              </c:strCache>
            </c:strRef>
          </c:tx>
          <c:spPr>
            <a:solidFill>
              <a:srgbClr val="C143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Jon Rahm</c:v>
                  </c:pt>
                  <c:pt idx="1">
                    <c:v>Rory McIlroy</c:v>
                  </c:pt>
                  <c:pt idx="2">
                    <c:v>Patrick Cantlay</c:v>
                  </c:pt>
                  <c:pt idx="3">
                    <c:v>Dustin Johnson</c:v>
                  </c:pt>
                  <c:pt idx="4">
                    <c:v>Justin Thomas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0.25</c:v>
                </c:pt>
                <c:pt idx="1">
                  <c:v>-0.04</c:v>
                </c:pt>
                <c:pt idx="2">
                  <c:v>0.13</c:v>
                </c:pt>
                <c:pt idx="3">
                  <c:v>0.16</c:v>
                </c:pt>
                <c:pt idx="4">
                  <c:v>-0.03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EFE0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C5D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B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4332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FBE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B4332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Purse ($M)</c:v>
                </c:pt>
              </c:strCache>
            </c:strRef>
          </c:tx>
          <c:spPr>
            <a:solidFill>
              <a:srgbClr val="E4BE6A"/>
            </a:solidFill>
            <a:ln w="31750" cap="flat">
              <a:solidFill>
                <a:srgbClr val="E4BE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4BE6A"/>
              </a:solidFill>
              <a:ln w="9525" cap="flat">
                <a:solidFill>
                  <a:srgbClr val="E4BE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6.82</c:v>
                </c:pt>
                <c:pt idx="1">
                  <c:v>6.97</c:v>
                </c:pt>
                <c:pt idx="2">
                  <c:v>7.23</c:v>
                </c:pt>
                <c:pt idx="3">
                  <c:v>7.4</c:v>
                </c:pt>
                <c:pt idx="4">
                  <c:v>7.53</c:v>
                </c:pt>
                <c:pt idx="5">
                  <c:v>7.52</c:v>
                </c:pt>
                <c:pt idx="6">
                  <c:v>7.91</c:v>
                </c:pt>
                <c:pt idx="7">
                  <c:v>8.95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C5D45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FBE9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C5D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B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4332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1B4332">
        <a:alpha val="0"/>
      </a:srgbClr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Tournaments</c:v>
                </c:pt>
              </c:strCache>
            </c:strRef>
          </c:tx>
          <c:spPr>
            <a:solidFill>
              <a:srgbClr val="5FA3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EFE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44</c:v>
                </c:pt>
                <c:pt idx="1">
                  <c:v>41</c:v>
                </c:pt>
                <c:pt idx="2">
                  <c:v>44</c:v>
                </c:pt>
                <c:pt idx="3">
                  <c:v>45</c:v>
                </c:pt>
                <c:pt idx="4">
                  <c:v>44</c:v>
                </c:pt>
                <c:pt idx="5">
                  <c:v>36</c:v>
                </c:pt>
                <c:pt idx="6">
                  <c:v>47</c:v>
                </c:pt>
                <c:pt idx="7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4EFE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C5D45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FBE9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4332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1B4332">
        <a:alpha val="0"/>
      </a:srgbClr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Wins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4EFE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Dustin Johnson</c:v>
                  </c:pt>
                  <c:pt idx="1">
                    <c:v>Justin Thomas</c:v>
                  </c:pt>
                  <c:pt idx="2">
                    <c:v>Bryson DeChambeau</c:v>
                  </c:pt>
                  <c:pt idx="3">
                    <c:v>Jason Day</c:v>
                  </c:pt>
                  <c:pt idx="4">
                    <c:v>Jordan Spieth</c:v>
                  </c:pt>
                  <c:pt idx="5">
                    <c:v>Rory McIlroy</c:v>
                  </c:pt>
                  <c:pt idx="6">
                    <c:v>Patrick Cantlay</c:v>
                  </c:pt>
                  <c:pt idx="7">
                    <c:v>Brooks Koepka</c:v>
                  </c:pt>
                  <c:pt idx="8">
                    <c:v>Jon Rahm</c:v>
                  </c:pt>
                  <c:pt idx="9">
                    <c:v>Max Homa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5</c:v>
                </c:pt>
                <c:pt idx="9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4EFE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EFE0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4332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1B4332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TOUR RAW DATA · 2015–2022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9144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Strokes
</a:t>
            </a:r>
            <a:pPr indent="0" marL="0">
              <a:lnSpc>
                <a:spcPct val="95000"/>
              </a:lnSpc>
              <a:buNone/>
            </a:pPr>
            <a:r>
              <a:rPr lang="en-US" sz="7200" b="1" i="1" dirty="0">
                <a:solidFill>
                  <a:srgbClr val="E4B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Gained.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stroke on the PGA TOUR measured against the field. 36,864 player-tournament rows across eight seasons, broken down the way the broadcast does it — off the tee, into the green, around it, and on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5221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LOGGED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55138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36,864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55848" y="50749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38728" y="5221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38728" y="55138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333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071616" y="50749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54496" y="5221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TRACKED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54496" y="55138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499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787384" y="50749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70264" y="5221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COVERED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970264" y="55138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2015–2022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RANKING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Strokes Gained: Total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strokes gained per round vs. the field — qualified players, 40+ TOUR events, 2015–2022.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4617720"/>
          </a:xfrm>
          <a:prstGeom prst="roundRect">
            <a:avLst>
              <a:gd name="adj" fmla="val 1584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68680" y="2103120"/>
          <a:ext cx="10424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figures follow tour broadcast convention — positive strokes gained, the good side of the ledger.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SPECIALISTS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in Each Discipline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strokes-gained categories that build a round: off the tee, approach, around the green, and putting.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2C5D45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474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TEE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+0.90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04672" y="4800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/ round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5577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</a:t>
            </a:r>
            <a:pPr indent="0" marL="0">
              <a:buNone/>
            </a:pPr>
            <a:r>
              <a:rPr lang="en-US" sz="1300" b="1" dirty="0">
                <a:solidFill>
                  <a:srgbClr val="F4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Rory McIlroy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00984" y="219456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75304" y="2606040"/>
            <a:ext cx="502920" cy="502920"/>
          </a:xfrm>
          <a:prstGeom prst="ellipse">
            <a:avLst/>
          </a:prstGeom>
          <a:solidFill>
            <a:srgbClr val="2C5D45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3474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9584" y="4023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+0.83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57016" y="4800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/ round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57016" y="5577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</a:t>
            </a:r>
            <a:pPr indent="0" marL="0">
              <a:buNone/>
            </a:pPr>
            <a:r>
              <a:rPr lang="en-US" sz="1300" b="1" dirty="0">
                <a:solidFill>
                  <a:srgbClr val="F4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 Morikawa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53328" y="219456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27648" y="2606040"/>
            <a:ext cx="502920" cy="502920"/>
          </a:xfrm>
          <a:prstGeom prst="ellipse">
            <a:avLst/>
          </a:prstGeom>
          <a:solidFill>
            <a:srgbClr val="2C5D45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474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GREEN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81928" y="4023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+0.38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09360" y="4800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/ round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5577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</a:t>
            </a:r>
            <a:pPr indent="0" marL="0">
              <a:buNone/>
            </a:pPr>
            <a:r>
              <a:rPr lang="en-US" sz="1300" b="1" dirty="0">
                <a:solidFill>
                  <a:srgbClr val="F4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Baddeley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805672" y="219456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79992" y="2606040"/>
            <a:ext cx="502920" cy="502920"/>
          </a:xfrm>
          <a:prstGeom prst="ellipse">
            <a:avLst/>
          </a:prstGeom>
          <a:solidFill>
            <a:srgbClr val="2C5D45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1704" y="3474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34272" y="4023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+0.53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061704" y="4800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/ round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61704" y="5577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</a:t>
            </a:r>
            <a:pPr indent="0" marL="0">
              <a:buNone/>
            </a:pPr>
            <a:r>
              <a:rPr lang="en-US" sz="1300" b="1" dirty="0">
                <a:solidFill>
                  <a:srgbClr val="F4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Denny McCarthy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ANATOMY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Top 5 Build Their Edge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total, different games — a stroke saved off the tee counts the same as one holed from 12 feet.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4617720"/>
          </a:xfrm>
          <a:prstGeom prst="roundRect">
            <a:avLst>
              <a:gd name="adj" fmla="val 1584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68680" y="2148840"/>
          <a:ext cx="104241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THE PURSE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 Growth, Season by Season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event purse climbed even as the 2020 season lost tournaments to schedule disruption.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Purse per Event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USD, millions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7240" y="2743200"/>
          <a:ext cx="48463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080760" y="1874520"/>
            <a:ext cx="5532120" cy="4617720"/>
          </a:xfrm>
          <a:prstGeom prst="roundRect">
            <a:avLst>
              <a:gd name="adj" fmla="val 1584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Played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2377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 per season</a:t>
            </a:r>
            <a:endParaRPr lang="en-US" sz="105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309360" y="27432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WINNERS' CIRCLE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Wins, 2015–2022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Trophies, not averages — the players who closed the deal most often.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4617720"/>
          </a:xfrm>
          <a:prstGeom prst="roundRect">
            <a:avLst>
              <a:gd name="adj" fmla="val 1584"/>
            </a:avLst>
          </a:prstGeom>
          <a:solidFill>
            <a:srgbClr val="1B4332"/>
          </a:solidFill>
          <a:ln w="12700">
            <a:solidFill>
              <a:srgbClr val="2C5D4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68680" y="2103120"/>
          <a:ext cx="10424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OUTLIERS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Single Rounds on Record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single-tournament strokes-gained totals in the dataset.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4480560"/>
        </p:xfrm>
        <a:graphic>
          <a:graphicData uri="http://schemas.openxmlformats.org/drawingml/2006/table">
            <a:tbl>
              <a:tblPr/>
              <a:tblGrid>
                <a:gridCol w="2468880"/>
                <a:gridCol w="4480560"/>
                <a:gridCol w="1234440"/>
                <a:gridCol w="1234440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0B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Tournament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0B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0B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0B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0B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Steven Bowditch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B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Zurich Classic of New Orleans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 Rahm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B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CJ CUP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Jimmy Walker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B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Sanderson Farms Championship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 Kim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B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CJ CUP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Dustin Johnson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B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NORTHERN TRUST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J.B. Holmes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B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Genesis 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Abraham Ancer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B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WGC-HSBC Champions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Bryson DeChambeau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B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Rocket Mortgage Classic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Grayson Murray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B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Sony Open in Hawaii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Hahn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B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PLAYERS Championship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B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Strokes Gained Ledger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429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ASA PGA TOUR raw tournament-level dataset. Strokes gained figures compare each player's performance to the field average for that round; positive values mean a player gained shots on the field.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by Mishaylin  ·  Data: 2014–2022 PGA TOUR seasons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2026-08-06T10:05:03Z</dcterms:created>
  <dcterms:modified xsi:type="dcterms:W3CDTF">2026-08-06T10:05:03Z</dcterms:modified>
</cp:coreProperties>
</file>